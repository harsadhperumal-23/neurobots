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image" Target="../media/image112.png"/><Relationship Id="rId9" Type="http://schemas.openxmlformats.org/officeDocument/2006/relationships/image" Target="../media/image11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Relationship Id="rId6" Type="http://schemas.openxmlformats.org/officeDocument/2006/relationships/image" Target="../media/image140.png"/><Relationship Id="rId7" Type="http://schemas.openxmlformats.org/officeDocument/2006/relationships/image" Target="../media/image141.png"/><Relationship Id="rId8" Type="http://schemas.openxmlformats.org/officeDocument/2006/relationships/image" Target="../media/image14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146.png"/><Relationship Id="rId7" Type="http://schemas.openxmlformats.org/officeDocument/2006/relationships/image" Target="../media/image147.png"/><Relationship Id="rId8" Type="http://schemas.openxmlformats.org/officeDocument/2006/relationships/image" Target="../media/image148.png"/><Relationship Id="rId9" Type="http://schemas.openxmlformats.org/officeDocument/2006/relationships/image" Target="../media/image149.png"/><Relationship Id="rId10" Type="http://schemas.openxmlformats.org/officeDocument/2006/relationships/image" Target="../media/image150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hyperlink" Target="https://github.com/harsadhperumal-23/neurobots" TargetMode="External"/><Relationship Id="rId7" Type="http://schemas.openxmlformats.org/officeDocument/2006/relationships/image" Target="../media/image157.png"/><Relationship Id="rId8" Type="http://schemas.openxmlformats.org/officeDocument/2006/relationships/hyperlink" Target="mailto:harsadhperumal23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53087" y="4746276"/>
            <a:ext cx="885826" cy="447676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3"/>
          <p:cNvSpPr txBox="1"/>
          <p:nvPr/>
        </p:nvSpPr>
        <p:spPr>
          <a:xfrm>
            <a:off x="1810464" y="2521297"/>
            <a:ext cx="8571071" cy="719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700"/>
              </a:lnSpc>
              <a:defRPr sz="480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</a:lstStyle>
          <a:p>
            <a:pPr/>
            <a:r>
              <a:t>Enterprise Legal Intelligence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3833812" y="3443287"/>
            <a:ext cx="4524376" cy="396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21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Contract Risk &amp; Compliance Copilot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2909886" y="4060476"/>
            <a:ext cx="6372226" cy="287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AI-powered semantic search, risk detection, and automated redlining.</a:t>
            </a:r>
          </a:p>
        </p:txBody>
      </p:sp>
      <p:pic>
        <p:nvPicPr>
          <p:cNvPr id="99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38812" y="1664047"/>
            <a:ext cx="714376" cy="571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1531142"/>
            <a:ext cx="5372100" cy="22749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38875" y="1531142"/>
            <a:ext cx="5372100" cy="22749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4091880"/>
            <a:ext cx="5372100" cy="2000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38875" y="4091880"/>
            <a:ext cx="5372100" cy="2000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Picture 7" descr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9150" y="1769267"/>
            <a:ext cx="4895850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Box 8"/>
          <p:cNvSpPr txBox="1"/>
          <p:nvPr/>
        </p:nvSpPr>
        <p:spPr>
          <a:xfrm>
            <a:off x="819149" y="2340767"/>
            <a:ext cx="5140644" cy="203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Slow &amp; Inefficient</a:t>
            </a:r>
          </a:p>
        </p:txBody>
      </p:sp>
      <p:sp>
        <p:nvSpPr>
          <p:cNvPr id="109" name="TextBox 9"/>
          <p:cNvSpPr txBox="1"/>
          <p:nvPr/>
        </p:nvSpPr>
        <p:spPr>
          <a:xfrm>
            <a:off x="819150" y="2745133"/>
            <a:ext cx="4895850" cy="51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Manual contract review processes create massive bottlenecks, taking days to process standard agreements.</a:t>
            </a:r>
          </a:p>
        </p:txBody>
      </p:sp>
      <p:pic>
        <p:nvPicPr>
          <p:cNvPr id="110" name="Picture 10" descr="Picture 1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477000" y="1769267"/>
            <a:ext cx="4895850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Box 11"/>
          <p:cNvSpPr txBox="1"/>
          <p:nvPr/>
        </p:nvSpPr>
        <p:spPr>
          <a:xfrm>
            <a:off x="6476999" y="2340767"/>
            <a:ext cx="5140644" cy="203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High Costs</a:t>
            </a:r>
          </a:p>
        </p:txBody>
      </p:sp>
      <p:sp>
        <p:nvSpPr>
          <p:cNvPr id="112" name="TextBox 12"/>
          <p:cNvSpPr txBox="1"/>
          <p:nvPr/>
        </p:nvSpPr>
        <p:spPr>
          <a:xfrm>
            <a:off x="6477000" y="2745133"/>
            <a:ext cx="4895850" cy="51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Relying solely on expensive outside counsel or senior in-house teams for routine compliance checks drains budgets.</a:t>
            </a:r>
          </a:p>
        </p:txBody>
      </p:sp>
      <p:pic>
        <p:nvPicPr>
          <p:cNvPr id="113" name="Picture 13" descr="Picture 1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19150" y="4330005"/>
            <a:ext cx="4895850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14"/>
          <p:cNvSpPr txBox="1"/>
          <p:nvPr/>
        </p:nvSpPr>
        <p:spPr>
          <a:xfrm>
            <a:off x="819149" y="4901505"/>
            <a:ext cx="5140644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Error-Prone</a:t>
            </a:r>
          </a:p>
        </p:txBody>
      </p:sp>
      <p:sp>
        <p:nvSpPr>
          <p:cNvPr id="115" name="TextBox 15"/>
          <p:cNvSpPr txBox="1"/>
          <p:nvPr/>
        </p:nvSpPr>
        <p:spPr>
          <a:xfrm>
            <a:off x="819150" y="5305871"/>
            <a:ext cx="4895850" cy="51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Human fatigue leads to missed hidden clauses, conflicting obligations, and unmitigated enterprise risk.</a:t>
            </a:r>
          </a:p>
        </p:txBody>
      </p:sp>
      <p:pic>
        <p:nvPicPr>
          <p:cNvPr id="116" name="Picture 16" descr="Picture 16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477000" y="4330005"/>
            <a:ext cx="4895850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17"/>
          <p:cNvSpPr txBox="1"/>
          <p:nvPr/>
        </p:nvSpPr>
        <p:spPr>
          <a:xfrm>
            <a:off x="6476999" y="4901505"/>
            <a:ext cx="5140644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Lacks Explainability</a:t>
            </a:r>
          </a:p>
        </p:txBody>
      </p:sp>
      <p:sp>
        <p:nvSpPr>
          <p:cNvPr id="118" name="TextBox 18"/>
          <p:cNvSpPr txBox="1"/>
          <p:nvPr/>
        </p:nvSpPr>
        <p:spPr>
          <a:xfrm>
            <a:off x="6477000" y="5305871"/>
            <a:ext cx="4895850" cy="51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Existing 'black box' AI tools fail to provide citations, leaving legal teams unable to verify the source of truth.</a:t>
            </a:r>
          </a:p>
        </p:txBody>
      </p:sp>
      <p:sp>
        <p:nvSpPr>
          <p:cNvPr id="119" name="TextBox 19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The Problem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2179439"/>
            <a:ext cx="11029950" cy="32648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1025" y="525660"/>
            <a:ext cx="304800" cy="400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72150" y="1865114"/>
            <a:ext cx="647700" cy="64770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Box 5"/>
          <p:cNvSpPr txBox="1"/>
          <p:nvPr/>
        </p:nvSpPr>
        <p:spPr>
          <a:xfrm>
            <a:off x="715326" y="2855714"/>
            <a:ext cx="10761347" cy="354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b="1" sz="2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Intelligent Legal AI Platform</a:t>
            </a:r>
          </a:p>
        </p:txBody>
      </p:sp>
      <p:sp>
        <p:nvSpPr>
          <p:cNvPr id="126" name="TextBox 6"/>
          <p:cNvSpPr txBox="1"/>
          <p:nvPr/>
        </p:nvSpPr>
        <p:spPr>
          <a:xfrm>
            <a:off x="1809750" y="3411883"/>
            <a:ext cx="8572500" cy="64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 comprehensive Copilot designed specifically for enterprise legal workflows, merging advanced RAG, Multi-Agent AI, and deterministic rule engines.</a:t>
            </a:r>
          </a:p>
        </p:txBody>
      </p:sp>
      <p:pic>
        <p:nvPicPr>
          <p:cNvPr id="127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67400" y="1960364"/>
            <a:ext cx="457200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66925" y="4463205"/>
            <a:ext cx="228600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Box 9"/>
          <p:cNvSpPr txBox="1"/>
          <p:nvPr/>
        </p:nvSpPr>
        <p:spPr>
          <a:xfrm>
            <a:off x="971550" y="4863255"/>
            <a:ext cx="24193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Contract Analysis</a:t>
            </a:r>
          </a:p>
        </p:txBody>
      </p:sp>
      <p:sp>
        <p:nvSpPr>
          <p:cNvPr id="130" name="TextBox 10"/>
          <p:cNvSpPr txBox="1"/>
          <p:nvPr/>
        </p:nvSpPr>
        <p:spPr>
          <a:xfrm>
            <a:off x="3581400" y="4558455"/>
            <a:ext cx="24193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Compliance Check</a:t>
            </a:r>
          </a:p>
        </p:txBody>
      </p:sp>
      <p:sp>
        <p:nvSpPr>
          <p:cNvPr id="131" name="TextBox 11"/>
          <p:cNvSpPr txBox="1"/>
          <p:nvPr/>
        </p:nvSpPr>
        <p:spPr>
          <a:xfrm>
            <a:off x="6191250" y="4558455"/>
            <a:ext cx="24193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Risk Detection</a:t>
            </a:r>
          </a:p>
        </p:txBody>
      </p:sp>
      <p:pic>
        <p:nvPicPr>
          <p:cNvPr id="132" name="Picture 12" descr="Picture 1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858375" y="4463205"/>
            <a:ext cx="304800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TextBox 13"/>
          <p:cNvSpPr txBox="1"/>
          <p:nvPr/>
        </p:nvSpPr>
        <p:spPr>
          <a:xfrm>
            <a:off x="8801100" y="4863255"/>
            <a:ext cx="241935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Semantic Search</a:t>
            </a:r>
          </a:p>
        </p:txBody>
      </p:sp>
      <p:sp>
        <p:nvSpPr>
          <p:cNvPr id="134" name="TextBox 14"/>
          <p:cNvSpPr txBox="1"/>
          <p:nvPr/>
        </p:nvSpPr>
        <p:spPr>
          <a:xfrm>
            <a:off x="1028699" y="492527"/>
            <a:ext cx="11111390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The Solution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2495550"/>
            <a:ext cx="3486150" cy="2632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52925" y="2495550"/>
            <a:ext cx="3486150" cy="2632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4825" y="2495550"/>
            <a:ext cx="3486150" cy="26326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Box 6"/>
          <p:cNvSpPr txBox="1"/>
          <p:nvPr/>
        </p:nvSpPr>
        <p:spPr>
          <a:xfrm>
            <a:off x="781050" y="2886075"/>
            <a:ext cx="3086100" cy="62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800"/>
              </a:lnSpc>
              <a:defRPr sz="48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</a:lstStyle>
          <a:p>
            <a:pPr/>
            <a:r>
              <a:t>80%</a:t>
            </a:r>
          </a:p>
        </p:txBody>
      </p:sp>
      <p:sp>
        <p:nvSpPr>
          <p:cNvPr id="142" name="TextBox 7"/>
          <p:cNvSpPr txBox="1"/>
          <p:nvPr/>
        </p:nvSpPr>
        <p:spPr>
          <a:xfrm>
            <a:off x="781050" y="3590925"/>
            <a:ext cx="3086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5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Faster Review</a:t>
            </a:r>
          </a:p>
        </p:txBody>
      </p:sp>
      <p:sp>
        <p:nvSpPr>
          <p:cNvPr id="143" name="TextBox 8"/>
          <p:cNvSpPr txBox="1"/>
          <p:nvPr/>
        </p:nvSpPr>
        <p:spPr>
          <a:xfrm>
            <a:off x="781050" y="3914774"/>
            <a:ext cx="3086100" cy="784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Reduce contract turnaround time from days to minutes with automated first-pass reviews.</a:t>
            </a:r>
          </a:p>
        </p:txBody>
      </p:sp>
      <p:sp>
        <p:nvSpPr>
          <p:cNvPr id="144" name="TextBox 9"/>
          <p:cNvSpPr txBox="1"/>
          <p:nvPr/>
        </p:nvSpPr>
        <p:spPr>
          <a:xfrm>
            <a:off x="4552950" y="2886075"/>
            <a:ext cx="3086100" cy="62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800"/>
              </a:lnSpc>
              <a:defRPr sz="48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</a:lstStyle>
          <a:p>
            <a:pPr/>
            <a:r>
              <a:t>60%</a:t>
            </a:r>
          </a:p>
        </p:txBody>
      </p:sp>
      <p:sp>
        <p:nvSpPr>
          <p:cNvPr id="145" name="TextBox 10"/>
          <p:cNvSpPr txBox="1"/>
          <p:nvPr/>
        </p:nvSpPr>
        <p:spPr>
          <a:xfrm>
            <a:off x="4552950" y="3590925"/>
            <a:ext cx="3086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5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Cost Reduction</a:t>
            </a:r>
          </a:p>
        </p:txBody>
      </p:sp>
      <p:sp>
        <p:nvSpPr>
          <p:cNvPr id="146" name="TextBox 11"/>
          <p:cNvSpPr txBox="1"/>
          <p:nvPr/>
        </p:nvSpPr>
        <p:spPr>
          <a:xfrm>
            <a:off x="4552950" y="3914774"/>
            <a:ext cx="3086100" cy="784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Minimize reliance on external counsel for standard compliance and obligation tracking.</a:t>
            </a:r>
          </a:p>
        </p:txBody>
      </p:sp>
      <p:sp>
        <p:nvSpPr>
          <p:cNvPr id="147" name="TextBox 12"/>
          <p:cNvSpPr txBox="1"/>
          <p:nvPr/>
        </p:nvSpPr>
        <p:spPr>
          <a:xfrm>
            <a:off x="8324850" y="2886075"/>
            <a:ext cx="3086100" cy="62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800"/>
              </a:lnSpc>
              <a:defRPr sz="48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</a:lstStyle>
          <a:p>
            <a:pPr/>
            <a:r>
              <a:t>99%</a:t>
            </a:r>
          </a:p>
        </p:txBody>
      </p:sp>
      <p:sp>
        <p:nvSpPr>
          <p:cNvPr id="148" name="TextBox 13"/>
          <p:cNvSpPr txBox="1"/>
          <p:nvPr/>
        </p:nvSpPr>
        <p:spPr>
          <a:xfrm>
            <a:off x="8324850" y="3590925"/>
            <a:ext cx="308610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5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Accuracy &amp; Audit</a:t>
            </a:r>
          </a:p>
        </p:txBody>
      </p:sp>
      <p:sp>
        <p:nvSpPr>
          <p:cNvPr id="149" name="TextBox 14"/>
          <p:cNvSpPr txBox="1"/>
          <p:nvPr/>
        </p:nvSpPr>
        <p:spPr>
          <a:xfrm>
            <a:off x="8324850" y="3914774"/>
            <a:ext cx="3086100" cy="784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Ensure nothing is missed with deterministic entity extraction and full audit traceability.</a:t>
            </a:r>
          </a:p>
        </p:txBody>
      </p:sp>
      <p:sp>
        <p:nvSpPr>
          <p:cNvPr id="150" name="TextBox 15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Objectives &amp; Business Impact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95400" y="1811534"/>
            <a:ext cx="1295400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81300" y="1811534"/>
            <a:ext cx="1352550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324350" y="1811534"/>
            <a:ext cx="2114550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629400" y="1811534"/>
            <a:ext cx="1314450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34350" y="1811534"/>
            <a:ext cx="2762250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7" descr="Pictur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033462" y="2535434"/>
            <a:ext cx="1600201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Picture 8" descr="Pictur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824161" y="2535434"/>
            <a:ext cx="1295401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Picture 9" descr="Pictur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310062" y="2535434"/>
            <a:ext cx="1552576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10" descr="Picture 1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053137" y="2535434"/>
            <a:ext cx="1733551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Picture 11" descr="Picture 11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977186" y="2535434"/>
            <a:ext cx="1600201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12" descr="Picture 12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767886" y="2535434"/>
            <a:ext cx="1390651" cy="533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icture 13" descr="Picture 13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581025" y="525660"/>
            <a:ext cx="447675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Box 14"/>
          <p:cNvSpPr txBox="1"/>
          <p:nvPr/>
        </p:nvSpPr>
        <p:spPr>
          <a:xfrm>
            <a:off x="581025" y="1251495"/>
            <a:ext cx="11029950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Built on a modern, scalable, and secure AI infrastructure designed for enterprise deployment.</a:t>
            </a:r>
          </a:p>
        </p:txBody>
      </p:sp>
      <p:pic>
        <p:nvPicPr>
          <p:cNvPr id="166" name="Picture 15" descr="Picture 15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495425" y="1963934"/>
            <a:ext cx="200025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16" descr="Picture 16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2981325" y="1963934"/>
            <a:ext cx="200025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icture 17" descr="Picture 17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4524375" y="1963934"/>
            <a:ext cx="228600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icture 18" descr="Picture 18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829425" y="1963934"/>
            <a:ext cx="285750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Picture 19" descr="Picture 19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8334375" y="1963934"/>
            <a:ext cx="285750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Picture 20" descr="Picture 20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1233487" y="2687834"/>
            <a:ext cx="200026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Picture 21" descr="Picture 21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3024186" y="2687834"/>
            <a:ext cx="228601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Picture 22" descr="Picture 22"/>
          <p:cNvPicPr>
            <a:picLocks noChangeAspect="1"/>
          </p:cNvPicPr>
          <p:nvPr/>
        </p:nvPicPr>
        <p:blipFill>
          <a:blip r:embed="rId22">
            <a:extLst/>
          </a:blip>
          <a:stretch>
            <a:fillRect/>
          </a:stretch>
        </p:blipFill>
        <p:spPr>
          <a:xfrm>
            <a:off x="4510087" y="2687834"/>
            <a:ext cx="228601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Picture 23" descr="Picture 23"/>
          <p:cNvPicPr>
            <a:picLocks noChangeAspect="1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6253162" y="2687834"/>
            <a:ext cx="171451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Picture 24" descr="Picture 24"/>
          <p:cNvPicPr>
            <a:picLocks noChangeAspect="1"/>
          </p:cNvPicPr>
          <p:nvPr/>
        </p:nvPicPr>
        <p:blipFill>
          <a:blip r:embed="rId24">
            <a:extLst/>
          </a:blip>
          <a:stretch>
            <a:fillRect/>
          </a:stretch>
        </p:blipFill>
        <p:spPr>
          <a:xfrm>
            <a:off x="8177211" y="2687834"/>
            <a:ext cx="257176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Picture 25" descr="Picture 25"/>
          <p:cNvPicPr>
            <a:picLocks noChangeAspect="1"/>
          </p:cNvPicPr>
          <p:nvPr/>
        </p:nvPicPr>
        <p:blipFill>
          <a:blip r:embed="rId25">
            <a:extLst/>
          </a:blip>
          <a:stretch>
            <a:fillRect/>
          </a:stretch>
        </p:blipFill>
        <p:spPr>
          <a:xfrm>
            <a:off x="9967911" y="2687834"/>
            <a:ext cx="28575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Box 26"/>
          <p:cNvSpPr txBox="1"/>
          <p:nvPr/>
        </p:nvSpPr>
        <p:spPr>
          <a:xfrm>
            <a:off x="1171574" y="492527"/>
            <a:ext cx="10961372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Technology Stack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7250" y="2278259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90925" y="2278259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24600" y="2278259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058275" y="2278259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57250" y="3554610"/>
            <a:ext cx="2276475" cy="5143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Picture 7" descr="Pictur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590925" y="3459360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Picture 8" descr="Pictur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324600" y="3459360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icture 9" descr="Pictur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058275" y="3459360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10" descr="Picture 1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857250" y="4735710"/>
            <a:ext cx="2276475" cy="5143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11" descr="Picture 11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590925" y="4640460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12" descr="Picture 12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324600" y="4735710"/>
            <a:ext cx="2276475" cy="5143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Picture 13" descr="Picture 13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9058275" y="4640460"/>
            <a:ext cx="2276475" cy="70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icture 14" descr="Picture 14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581025" y="525660"/>
            <a:ext cx="447675" cy="400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icture 15" descr="Picture 15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3276600" y="2535434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Picture 16" descr="Picture 16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6010275" y="2535434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Picture 17" descr="Picture 17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8743950" y="2535434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Picture 18" descr="Picture 18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3276600" y="3716535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Picture 19" descr="Picture 19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6010275" y="3716535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Picture 20" descr="Picture 20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8743950" y="3716535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Picture 21" descr="Picture 21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3276600" y="4897635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icture 22" descr="Picture 22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6010275" y="4897635"/>
            <a:ext cx="171450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Picture 23" descr="Picture 23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8743950" y="4897635"/>
            <a:ext cx="1714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TextBox 24"/>
          <p:cNvSpPr txBox="1"/>
          <p:nvPr/>
        </p:nvSpPr>
        <p:spPr>
          <a:xfrm>
            <a:off x="1695450" y="2668784"/>
            <a:ext cx="60007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PDF/DOCX</a:t>
            </a:r>
          </a:p>
        </p:txBody>
      </p:sp>
      <p:sp>
        <p:nvSpPr>
          <p:cNvPr id="203" name="TextBox 25"/>
          <p:cNvSpPr txBox="1"/>
          <p:nvPr/>
        </p:nvSpPr>
        <p:spPr>
          <a:xfrm>
            <a:off x="4457700" y="2668784"/>
            <a:ext cx="54292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PyMuPDF</a:t>
            </a:r>
          </a:p>
        </p:txBody>
      </p:sp>
      <p:pic>
        <p:nvPicPr>
          <p:cNvPr id="204" name="Picture 26" descr="Picture 2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10620375" y="3125984"/>
            <a:ext cx="142875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extBox 27"/>
          <p:cNvSpPr txBox="1"/>
          <p:nvPr/>
        </p:nvSpPr>
        <p:spPr>
          <a:xfrm>
            <a:off x="4391025" y="3849885"/>
            <a:ext cx="67627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Vector Store</a:t>
            </a:r>
          </a:p>
        </p:txBody>
      </p:sp>
      <p:sp>
        <p:nvSpPr>
          <p:cNvPr id="206" name="TextBox 28"/>
          <p:cNvSpPr txBox="1"/>
          <p:nvPr/>
        </p:nvSpPr>
        <p:spPr>
          <a:xfrm>
            <a:off x="7215186" y="3849885"/>
            <a:ext cx="4953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BAAI/bge</a:t>
            </a:r>
          </a:p>
        </p:txBody>
      </p:sp>
      <p:pic>
        <p:nvPicPr>
          <p:cNvPr id="207" name="Picture 29" descr="Picture 29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1428750" y="4307085"/>
            <a:ext cx="142875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30"/>
          <p:cNvSpPr txBox="1"/>
          <p:nvPr/>
        </p:nvSpPr>
        <p:spPr>
          <a:xfrm>
            <a:off x="1171574" y="492527"/>
            <a:ext cx="10961372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System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2935633"/>
            <a:ext cx="1954559" cy="1752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49908" y="3042194"/>
            <a:ext cx="1954560" cy="15390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118794" y="3042194"/>
            <a:ext cx="1954560" cy="15390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87679" y="3042194"/>
            <a:ext cx="1954560" cy="15390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656564" y="3042194"/>
            <a:ext cx="1954560" cy="15390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Picture 7" descr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Picture 8" descr="Picture 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630833" y="3716535"/>
            <a:ext cx="123826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Picture 9" descr="Picture 9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899719" y="3716535"/>
            <a:ext cx="123826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Picture 10" descr="Picture 1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168604" y="3716535"/>
            <a:ext cx="123826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Picture 11" descr="Picture 1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437489" y="3716535"/>
            <a:ext cx="123826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Picture 12" descr="Picture 12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434404" y="3173758"/>
            <a:ext cx="247651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extBox 13"/>
          <p:cNvSpPr txBox="1"/>
          <p:nvPr/>
        </p:nvSpPr>
        <p:spPr>
          <a:xfrm>
            <a:off x="1128176" y="3650008"/>
            <a:ext cx="860107" cy="17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User Query</a:t>
            </a:r>
          </a:p>
        </p:txBody>
      </p:sp>
      <p:sp>
        <p:nvSpPr>
          <p:cNvPr id="223" name="TextBox 14"/>
          <p:cNvSpPr txBox="1"/>
          <p:nvPr/>
        </p:nvSpPr>
        <p:spPr>
          <a:xfrm>
            <a:off x="819150" y="4023269"/>
            <a:ext cx="1478309" cy="191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"What is the liability cap?"</a:t>
            </a:r>
          </a:p>
        </p:txBody>
      </p:sp>
      <p:pic>
        <p:nvPicPr>
          <p:cNvPr id="224" name="Picture 15" descr="Picture 15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3646139" y="3280319"/>
            <a:ext cx="361951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TextBox 16"/>
          <p:cNvSpPr txBox="1"/>
          <p:nvPr/>
        </p:nvSpPr>
        <p:spPr>
          <a:xfrm>
            <a:off x="3462068" y="3756569"/>
            <a:ext cx="730092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Retriever</a:t>
            </a:r>
          </a:p>
        </p:txBody>
      </p:sp>
      <p:sp>
        <p:nvSpPr>
          <p:cNvPr id="226" name="TextBox 17"/>
          <p:cNvSpPr txBox="1"/>
          <p:nvPr/>
        </p:nvSpPr>
        <p:spPr>
          <a:xfrm>
            <a:off x="3298476" y="4129830"/>
            <a:ext cx="1057276" cy="191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Semantic Search</a:t>
            </a:r>
          </a:p>
        </p:txBody>
      </p:sp>
      <p:pic>
        <p:nvPicPr>
          <p:cNvPr id="227" name="Picture 18" descr="Picture 18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5972175" y="3280319"/>
            <a:ext cx="247650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Box 19"/>
          <p:cNvSpPr txBox="1"/>
          <p:nvPr/>
        </p:nvSpPr>
        <p:spPr>
          <a:xfrm>
            <a:off x="5675946" y="3756569"/>
            <a:ext cx="840106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ChromaDB</a:t>
            </a:r>
          </a:p>
        </p:txBody>
      </p:sp>
      <p:sp>
        <p:nvSpPr>
          <p:cNvPr id="229" name="TextBox 20"/>
          <p:cNvSpPr txBox="1"/>
          <p:nvPr/>
        </p:nvSpPr>
        <p:spPr>
          <a:xfrm>
            <a:off x="5462587" y="4129830"/>
            <a:ext cx="1266826" cy="191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Fetch Top-K Chunks</a:t>
            </a:r>
          </a:p>
        </p:txBody>
      </p:sp>
      <p:pic>
        <p:nvPicPr>
          <p:cNvPr id="230" name="Picture 21" descr="Picture 21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183908" y="3280319"/>
            <a:ext cx="361951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Box 22"/>
          <p:cNvSpPr txBox="1"/>
          <p:nvPr/>
        </p:nvSpPr>
        <p:spPr>
          <a:xfrm>
            <a:off x="7779811" y="3756569"/>
            <a:ext cx="1170147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Prompt Builder</a:t>
            </a:r>
          </a:p>
        </p:txBody>
      </p:sp>
      <p:sp>
        <p:nvSpPr>
          <p:cNvPr id="232" name="TextBox 23"/>
          <p:cNvSpPr txBox="1"/>
          <p:nvPr/>
        </p:nvSpPr>
        <p:spPr>
          <a:xfrm>
            <a:off x="7926733" y="4129830"/>
            <a:ext cx="876301" cy="191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Inject Context</a:t>
            </a:r>
          </a:p>
        </p:txBody>
      </p:sp>
      <p:pic>
        <p:nvPicPr>
          <p:cNvPr id="233" name="Picture 24" descr="Picture 24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10490893" y="3280319"/>
            <a:ext cx="285751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Box 25"/>
          <p:cNvSpPr txBox="1"/>
          <p:nvPr/>
        </p:nvSpPr>
        <p:spPr>
          <a:xfrm>
            <a:off x="10258721" y="3756569"/>
            <a:ext cx="750094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Groq LLM</a:t>
            </a:r>
          </a:p>
        </p:txBody>
      </p:sp>
      <p:sp>
        <p:nvSpPr>
          <p:cNvPr id="235" name="TextBox 26"/>
          <p:cNvSpPr txBox="1"/>
          <p:nvPr/>
        </p:nvSpPr>
        <p:spPr>
          <a:xfrm>
            <a:off x="10095607" y="4129830"/>
            <a:ext cx="1076326" cy="191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Generate Answer</a:t>
            </a:r>
          </a:p>
        </p:txBody>
      </p:sp>
      <p:sp>
        <p:nvSpPr>
          <p:cNvPr id="236" name="TextBox 27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RAG Workflow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05375" y="2640955"/>
            <a:ext cx="2381250" cy="1507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1025" y="525660"/>
            <a:ext cx="504825" cy="400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05500" y="2850505"/>
            <a:ext cx="381000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extBox 5"/>
          <p:cNvSpPr txBox="1"/>
          <p:nvPr/>
        </p:nvSpPr>
        <p:spPr>
          <a:xfrm>
            <a:off x="5065871" y="3250555"/>
            <a:ext cx="2060258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Orchestrator</a:t>
            </a:r>
          </a:p>
        </p:txBody>
      </p:sp>
      <p:sp>
        <p:nvSpPr>
          <p:cNvPr id="243" name="TextBox 6"/>
          <p:cNvSpPr txBox="1"/>
          <p:nvPr/>
        </p:nvSpPr>
        <p:spPr>
          <a:xfrm>
            <a:off x="5114925" y="3512046"/>
            <a:ext cx="1962150" cy="394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Routes tasks and synthesizes outputs.</a:t>
            </a:r>
          </a:p>
        </p:txBody>
      </p:sp>
      <p:pic>
        <p:nvPicPr>
          <p:cNvPr id="244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568005" y="1451520"/>
            <a:ext cx="3429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extBox 8"/>
          <p:cNvSpPr txBox="1"/>
          <p:nvPr/>
        </p:nvSpPr>
        <p:spPr>
          <a:xfrm>
            <a:off x="2949355" y="1851569"/>
            <a:ext cx="1580199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Clause Agent</a:t>
            </a:r>
          </a:p>
        </p:txBody>
      </p:sp>
      <p:pic>
        <p:nvPicPr>
          <p:cNvPr id="246" name="Picture 9" descr="Picture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300143" y="1451520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extBox 10"/>
          <p:cNvSpPr txBox="1"/>
          <p:nvPr/>
        </p:nvSpPr>
        <p:spPr>
          <a:xfrm>
            <a:off x="7662444" y="1851569"/>
            <a:ext cx="1580198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Entity Agent</a:t>
            </a:r>
          </a:p>
        </p:txBody>
      </p:sp>
      <p:pic>
        <p:nvPicPr>
          <p:cNvPr id="248" name="Picture 11" descr="Picture 1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587055" y="4754908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TextBox 12"/>
          <p:cNvSpPr txBox="1"/>
          <p:nvPr/>
        </p:nvSpPr>
        <p:spPr>
          <a:xfrm>
            <a:off x="2949355" y="5154958"/>
            <a:ext cx="1580199" cy="17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Risk Agent</a:t>
            </a:r>
          </a:p>
        </p:txBody>
      </p:sp>
      <p:pic>
        <p:nvPicPr>
          <p:cNvPr id="250" name="Picture 13" descr="Picture 1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262043" y="4754908"/>
            <a:ext cx="3810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Box 14"/>
          <p:cNvSpPr txBox="1"/>
          <p:nvPr/>
        </p:nvSpPr>
        <p:spPr>
          <a:xfrm>
            <a:off x="7662444" y="5154958"/>
            <a:ext cx="1580198" cy="17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Compliance Agent</a:t>
            </a:r>
          </a:p>
        </p:txBody>
      </p:sp>
      <p:pic>
        <p:nvPicPr>
          <p:cNvPr id="252" name="Picture 15" descr="Picture 15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894433" y="3166019"/>
            <a:ext cx="3810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TextBox 16"/>
          <p:cNvSpPr txBox="1"/>
          <p:nvPr/>
        </p:nvSpPr>
        <p:spPr>
          <a:xfrm>
            <a:off x="1294834" y="3566069"/>
            <a:ext cx="1580198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Negotiation Agent</a:t>
            </a:r>
          </a:p>
        </p:txBody>
      </p:sp>
      <p:pic>
        <p:nvPicPr>
          <p:cNvPr id="254" name="Picture 17" descr="Picture 17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954666" y="3166019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Box 18"/>
          <p:cNvSpPr txBox="1"/>
          <p:nvPr/>
        </p:nvSpPr>
        <p:spPr>
          <a:xfrm>
            <a:off x="9316967" y="3566069"/>
            <a:ext cx="1580198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Judge Agent</a:t>
            </a:r>
          </a:p>
        </p:txBody>
      </p:sp>
      <p:sp>
        <p:nvSpPr>
          <p:cNvPr id="256" name="TextBox 19"/>
          <p:cNvSpPr txBox="1"/>
          <p:nvPr/>
        </p:nvSpPr>
        <p:spPr>
          <a:xfrm>
            <a:off x="1228724" y="492527"/>
            <a:ext cx="10901364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Multi-Agent Architecture</a:t>
            </a:r>
          </a:p>
        </p:txBody>
      </p:sp>
      <p:pic>
        <p:nvPicPr>
          <p:cNvPr id="257" name="Picture 20" descr="Picture 2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06425" y="1251495"/>
            <a:ext cx="11029950" cy="42862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2060674"/>
            <a:ext cx="3486150" cy="1608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52925" y="2060674"/>
            <a:ext cx="3486150" cy="1608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4825" y="2060674"/>
            <a:ext cx="3486150" cy="1608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3954660"/>
            <a:ext cx="3486150" cy="1608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52925" y="3954660"/>
            <a:ext cx="3486150" cy="1608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4825" y="3954660"/>
            <a:ext cx="3486150" cy="16082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xtBox 9"/>
          <p:cNvSpPr txBox="1"/>
          <p:nvPr/>
        </p:nvSpPr>
        <p:spPr>
          <a:xfrm>
            <a:off x="1000124" y="2298799"/>
            <a:ext cx="2979422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Risk Engine</a:t>
            </a:r>
          </a:p>
        </p:txBody>
      </p:sp>
      <p:sp>
        <p:nvSpPr>
          <p:cNvPr id="268" name="TextBox 10"/>
          <p:cNvSpPr txBox="1"/>
          <p:nvPr/>
        </p:nvSpPr>
        <p:spPr>
          <a:xfrm>
            <a:off x="819150" y="2607915"/>
            <a:ext cx="3009900" cy="784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Identifies unfavorable terms, unlimited liabilities, and non-standard indemnifications.</a:t>
            </a:r>
          </a:p>
        </p:txBody>
      </p:sp>
      <p:sp>
        <p:nvSpPr>
          <p:cNvPr id="269" name="TextBox 11"/>
          <p:cNvSpPr txBox="1"/>
          <p:nvPr/>
        </p:nvSpPr>
        <p:spPr>
          <a:xfrm>
            <a:off x="4743449" y="2298799"/>
            <a:ext cx="3007997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Compliance</a:t>
            </a:r>
          </a:p>
        </p:txBody>
      </p:sp>
      <p:sp>
        <p:nvSpPr>
          <p:cNvPr id="270" name="TextBox 12"/>
          <p:cNvSpPr txBox="1"/>
          <p:nvPr/>
        </p:nvSpPr>
        <p:spPr>
          <a:xfrm>
            <a:off x="4591050" y="2607915"/>
            <a:ext cx="3009900" cy="784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Validates against internal playbooks, GDPR, HIPAA, and industry-specific regulations.</a:t>
            </a:r>
          </a:p>
        </p:txBody>
      </p:sp>
      <p:sp>
        <p:nvSpPr>
          <p:cNvPr id="271" name="TextBox 13"/>
          <p:cNvSpPr txBox="1"/>
          <p:nvPr/>
        </p:nvSpPr>
        <p:spPr>
          <a:xfrm>
            <a:off x="8543924" y="2298799"/>
            <a:ext cx="2979422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Redlining</a:t>
            </a:r>
          </a:p>
        </p:txBody>
      </p:sp>
      <p:sp>
        <p:nvSpPr>
          <p:cNvPr id="272" name="TextBox 14"/>
          <p:cNvSpPr txBox="1"/>
          <p:nvPr/>
        </p:nvSpPr>
        <p:spPr>
          <a:xfrm>
            <a:off x="8362950" y="2607915"/>
            <a:ext cx="3009900" cy="51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Automatically suggests inline edits and alternative standard clauses.</a:t>
            </a:r>
          </a:p>
        </p:txBody>
      </p:sp>
      <p:sp>
        <p:nvSpPr>
          <p:cNvPr id="273" name="TextBox 15"/>
          <p:cNvSpPr txBox="1"/>
          <p:nvPr/>
        </p:nvSpPr>
        <p:spPr>
          <a:xfrm>
            <a:off x="952499" y="4192785"/>
            <a:ext cx="3027047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Recommendation</a:t>
            </a:r>
          </a:p>
        </p:txBody>
      </p:sp>
      <p:sp>
        <p:nvSpPr>
          <p:cNvPr id="274" name="TextBox 16"/>
          <p:cNvSpPr txBox="1"/>
          <p:nvPr/>
        </p:nvSpPr>
        <p:spPr>
          <a:xfrm>
            <a:off x="819150" y="4501901"/>
            <a:ext cx="3009900" cy="784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Provides negotiation strategies and fallback positions for contentious clauses.</a:t>
            </a:r>
          </a:p>
        </p:txBody>
      </p:sp>
      <p:sp>
        <p:nvSpPr>
          <p:cNvPr id="275" name="TextBox 17"/>
          <p:cNvSpPr txBox="1"/>
          <p:nvPr/>
        </p:nvSpPr>
        <p:spPr>
          <a:xfrm>
            <a:off x="4762499" y="4192785"/>
            <a:ext cx="2988947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Explainability</a:t>
            </a:r>
          </a:p>
        </p:txBody>
      </p:sp>
      <p:sp>
        <p:nvSpPr>
          <p:cNvPr id="276" name="TextBox 18"/>
          <p:cNvSpPr txBox="1"/>
          <p:nvPr/>
        </p:nvSpPr>
        <p:spPr>
          <a:xfrm>
            <a:off x="4591050" y="4501901"/>
            <a:ext cx="3009900" cy="51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Maps every AI assertion back to the exact source paragraph in the document.</a:t>
            </a:r>
          </a:p>
        </p:txBody>
      </p:sp>
      <p:sp>
        <p:nvSpPr>
          <p:cNvPr id="277" name="TextBox 19"/>
          <p:cNvSpPr txBox="1"/>
          <p:nvPr/>
        </p:nvSpPr>
        <p:spPr>
          <a:xfrm>
            <a:off x="8496299" y="4192785"/>
            <a:ext cx="3027047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0078D4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278" name="TextBox 20"/>
          <p:cNvSpPr txBox="1"/>
          <p:nvPr/>
        </p:nvSpPr>
        <p:spPr>
          <a:xfrm>
            <a:off x="8362950" y="4501901"/>
            <a:ext cx="3009900" cy="784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Generates high-level executive briefs highlighting key dates, values, and obligations.</a:t>
            </a:r>
          </a:p>
        </p:txBody>
      </p:sp>
      <p:pic>
        <p:nvPicPr>
          <p:cNvPr id="279" name="Picture 21" descr="Picture 2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19150" y="2317849"/>
            <a:ext cx="180975" cy="1782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Picture 22" descr="Picture 2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591050" y="2317849"/>
            <a:ext cx="152400" cy="1782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1" name="Picture 23" descr="Picture 2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362950" y="2317849"/>
            <a:ext cx="180975" cy="1782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Picture 24" descr="Picture 24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19150" y="4211835"/>
            <a:ext cx="133350" cy="1782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Picture 25" descr="Picture 25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591050" y="4211835"/>
            <a:ext cx="171450" cy="1782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Picture 26" descr="Picture 26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8362950" y="4211835"/>
            <a:ext cx="133350" cy="178297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extBox 27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Core AI Engines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1251495"/>
            <a:ext cx="11029950" cy="5120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29250" y="3145184"/>
            <a:ext cx="1333500" cy="1333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454891" y="2273549"/>
            <a:ext cx="952501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54891" y="4310227"/>
            <a:ext cx="952501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770057" y="2273549"/>
            <a:ext cx="952501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Picture 7" descr="Pictur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770057" y="4310227"/>
            <a:ext cx="952501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Picture 8" descr="Pictur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619750" y="1287213"/>
            <a:ext cx="952500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Picture 9" descr="Pictur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581025" y="525660"/>
            <a:ext cx="504825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Rectangle 10"/>
          <p:cNvSpPr/>
          <p:nvPr/>
        </p:nvSpPr>
        <p:spPr>
          <a:xfrm>
            <a:off x="4174776" y="2953196"/>
            <a:ext cx="533401" cy="180976"/>
          </a:xfrm>
          <a:prstGeom prst="rect">
            <a:avLst/>
          </a:prstGeom>
          <a:solidFill>
            <a:srgbClr val="050B1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1"/>
          <p:cNvSpPr txBox="1"/>
          <p:nvPr/>
        </p:nvSpPr>
        <p:spPr>
          <a:xfrm>
            <a:off x="4193826" y="2972246"/>
            <a:ext cx="4953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"Parties"</a:t>
            </a:r>
          </a:p>
        </p:txBody>
      </p:sp>
      <p:sp>
        <p:nvSpPr>
          <p:cNvPr id="298" name="Rectangle 12"/>
          <p:cNvSpPr/>
          <p:nvPr/>
        </p:nvSpPr>
        <p:spPr>
          <a:xfrm>
            <a:off x="7436047" y="2953196"/>
            <a:ext cx="628651" cy="180976"/>
          </a:xfrm>
          <a:prstGeom prst="rect">
            <a:avLst/>
          </a:prstGeom>
          <a:solidFill>
            <a:srgbClr val="050B1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13"/>
          <p:cNvSpPr txBox="1"/>
          <p:nvPr/>
        </p:nvSpPr>
        <p:spPr>
          <a:xfrm>
            <a:off x="7455097" y="2972246"/>
            <a:ext cx="5905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"Contains"</a:t>
            </a:r>
          </a:p>
        </p:txBody>
      </p:sp>
      <p:sp>
        <p:nvSpPr>
          <p:cNvPr id="300" name="TextBox 14"/>
          <p:cNvSpPr txBox="1"/>
          <p:nvPr/>
        </p:nvSpPr>
        <p:spPr>
          <a:xfrm>
            <a:off x="1228724" y="492527"/>
            <a:ext cx="10901364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Knowledge Graph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1251495"/>
            <a:ext cx="4852988" cy="4286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757986" y="1251495"/>
            <a:ext cx="4852988" cy="4286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TextBox 5"/>
          <p:cNvSpPr txBox="1"/>
          <p:nvPr/>
        </p:nvSpPr>
        <p:spPr>
          <a:xfrm>
            <a:off x="819149" y="1489620"/>
            <a:ext cx="4595576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Original Version (V1)</a:t>
            </a:r>
          </a:p>
        </p:txBody>
      </p:sp>
      <p:sp>
        <p:nvSpPr>
          <p:cNvPr id="307" name="TextBox 6"/>
          <p:cNvSpPr txBox="1"/>
          <p:nvPr/>
        </p:nvSpPr>
        <p:spPr>
          <a:xfrm>
            <a:off x="819149" y="1893985"/>
            <a:ext cx="4376739" cy="1126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12.1 Liability.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13.1 Governing Law.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This agreement is governed by the laws of California.</a:t>
            </a:r>
          </a:p>
        </p:txBody>
      </p:sp>
      <p:pic>
        <p:nvPicPr>
          <p:cNvPr id="308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29300" y="3004094"/>
            <a:ext cx="533400" cy="542926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TextBox 8"/>
          <p:cNvSpPr txBox="1"/>
          <p:nvPr/>
        </p:nvSpPr>
        <p:spPr>
          <a:xfrm>
            <a:off x="5719762" y="3642269"/>
            <a:ext cx="75247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Semantic Diff</a:t>
            </a:r>
          </a:p>
        </p:txBody>
      </p:sp>
      <p:sp>
        <p:nvSpPr>
          <p:cNvPr id="310" name="TextBox 9"/>
          <p:cNvSpPr txBox="1"/>
          <p:nvPr/>
        </p:nvSpPr>
        <p:spPr>
          <a:xfrm>
            <a:off x="6996111" y="1489620"/>
            <a:ext cx="4595575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Revised Version (V2)</a:t>
            </a:r>
          </a:p>
        </p:txBody>
      </p:sp>
      <p:sp>
        <p:nvSpPr>
          <p:cNvPr id="311" name="TextBox 10"/>
          <p:cNvSpPr txBox="1"/>
          <p:nvPr/>
        </p:nvSpPr>
        <p:spPr>
          <a:xfrm>
            <a:off x="6996111" y="1893985"/>
            <a:ext cx="4376738" cy="1126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12.1 Liability.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13.1 Governing Law.</a:t>
            </a:r>
            <a:endParaRPr sz="1800">
              <a:solidFill>
                <a:srgbClr val="000000"/>
              </a:solidFill>
              <a:latin typeface="+mn-lt"/>
              <a:ea typeface="+mn-ea"/>
              <a:cs typeface="+mn-cs"/>
              <a:sym typeface="Calibri"/>
            </a:endParaRPr>
          </a:p>
          <a:p>
            <a:pPr>
              <a:lnSpc>
                <a:spcPts val="1800"/>
              </a:lnSpc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This agreement is governed by the laws of California.</a:t>
            </a:r>
          </a:p>
        </p:txBody>
      </p:sp>
      <p:pic>
        <p:nvPicPr>
          <p:cNvPr id="312" name="Picture 11" descr="Picture 1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9150" y="2133897"/>
            <a:ext cx="4376738" cy="517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12" descr="Picture 1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981700" y="3156494"/>
            <a:ext cx="228600" cy="228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13" descr="Picture 1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996111" y="2133897"/>
            <a:ext cx="4376738" cy="757833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extBox 14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Contract Comparison (V1 vs V2)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09750" y="1755426"/>
            <a:ext cx="8572500" cy="13028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09750" y="3629769"/>
            <a:ext cx="8572500" cy="20478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525660"/>
            <a:ext cx="352425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TextBox 5"/>
          <p:cNvSpPr txBox="1"/>
          <p:nvPr/>
        </p:nvSpPr>
        <p:spPr>
          <a:xfrm>
            <a:off x="2000250" y="3248768"/>
            <a:ext cx="838200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Grounded in Source Text</a:t>
            </a:r>
          </a:p>
        </p:txBody>
      </p:sp>
      <p:sp>
        <p:nvSpPr>
          <p:cNvPr id="322" name="TextBox 6"/>
          <p:cNvSpPr txBox="1"/>
          <p:nvPr/>
        </p:nvSpPr>
        <p:spPr>
          <a:xfrm>
            <a:off x="2238375" y="1993551"/>
            <a:ext cx="8310562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AI Assessment</a:t>
            </a:r>
          </a:p>
        </p:txBody>
      </p:sp>
      <p:sp>
        <p:nvSpPr>
          <p:cNvPr id="323" name="TextBox 7"/>
          <p:cNvSpPr txBox="1"/>
          <p:nvPr/>
        </p:nvSpPr>
        <p:spPr>
          <a:xfrm>
            <a:off x="2047875" y="2271563"/>
            <a:ext cx="8096250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b="1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Risk Alert:</a:t>
            </a:r>
            <a:r>
              <a:rPr b="0"/>
              <a:t> This contract contains a non-standard auto-renewal clause requiring 90 days notice for termination.</a:t>
            </a:r>
          </a:p>
        </p:txBody>
      </p:sp>
      <p:pic>
        <p:nvPicPr>
          <p:cNvPr id="324" name="Picture 8" descr="Picture 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081587" y="3267819"/>
            <a:ext cx="190501" cy="152401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TextBox 9"/>
          <p:cNvSpPr txBox="1"/>
          <p:nvPr/>
        </p:nvSpPr>
        <p:spPr>
          <a:xfrm>
            <a:off x="2133600" y="3820269"/>
            <a:ext cx="7962900" cy="661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500">
                <a:solidFill>
                  <a:srgbClr val="94A3B8"/>
                </a:solidFill>
                <a:latin typeface="serif"/>
                <a:ea typeface="serif"/>
                <a:cs typeface="serif"/>
                <a:sym typeface="serif"/>
              </a:defRPr>
            </a:lvl1pPr>
          </a:lstStyle>
          <a:p>
            <a:pPr/>
            <a:r>
              <a:t>"Term and Termination. This Agreement shall commence on the Effective Date and continue for an initial term of one (1) year. "</a:t>
            </a:r>
          </a:p>
        </p:txBody>
      </p:sp>
      <p:sp>
        <p:nvSpPr>
          <p:cNvPr id="326" name="TextBox 10"/>
          <p:cNvSpPr txBox="1"/>
          <p:nvPr/>
        </p:nvSpPr>
        <p:spPr>
          <a:xfrm>
            <a:off x="2266950" y="5334744"/>
            <a:ext cx="782955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4A3B8"/>
                </a:solidFill>
                <a:latin typeface="sans-serif"/>
                <a:ea typeface="sans-serif"/>
                <a:cs typeface="sans-serif"/>
                <a:sym typeface="sans-serif"/>
              </a:defRPr>
            </a:lvl1pPr>
          </a:lstStyle>
          <a:p>
            <a:pPr/>
            <a:r>
              <a:t>MSA_Vendor_final.pdf (Page 4, Section 8.2)</a:t>
            </a:r>
          </a:p>
        </p:txBody>
      </p:sp>
      <p:pic>
        <p:nvPicPr>
          <p:cNvPr id="327" name="Picture 11" descr="Picture 11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47875" y="2012601"/>
            <a:ext cx="1905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12" descr="Picture 1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133600" y="4229844"/>
            <a:ext cx="7961560" cy="91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" name="Picture 13" descr="Picture 1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133600" y="5344269"/>
            <a:ext cx="133350" cy="133351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TextBox 14"/>
          <p:cNvSpPr txBox="1"/>
          <p:nvPr/>
        </p:nvSpPr>
        <p:spPr>
          <a:xfrm>
            <a:off x="1076324" y="492527"/>
            <a:ext cx="11061384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Citation &amp; Explainability Engine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1251495"/>
            <a:ext cx="11029950" cy="5120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9150" y="1954409"/>
            <a:ext cx="10553700" cy="417969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TextBox 5"/>
          <p:cNvSpPr txBox="1"/>
          <p:nvPr/>
        </p:nvSpPr>
        <p:spPr>
          <a:xfrm>
            <a:off x="819150" y="1489620"/>
            <a:ext cx="10553700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Enterprise compliance requires absolute tracking of AI decisions and user interactions.</a:t>
            </a:r>
          </a:p>
        </p:txBody>
      </p:sp>
      <p:sp>
        <p:nvSpPr>
          <p:cNvPr id="337" name="TextBox 6"/>
          <p:cNvSpPr txBox="1"/>
          <p:nvPr/>
        </p:nvSpPr>
        <p:spPr>
          <a:xfrm>
            <a:off x="1009650" y="2144909"/>
            <a:ext cx="1017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[2024-05-20 14:32:01] INFO [System] Document uploaded: NDA_Acme.pdf (User ID: 492)</a:t>
            </a:r>
          </a:p>
        </p:txBody>
      </p:sp>
      <p:sp>
        <p:nvSpPr>
          <p:cNvPr id="338" name="TextBox 7"/>
          <p:cNvSpPr txBox="1"/>
          <p:nvPr/>
        </p:nvSpPr>
        <p:spPr>
          <a:xfrm>
            <a:off x="1009650" y="2392559"/>
            <a:ext cx="1017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[2024-05-20 14:32:05] TRACE [Pipeline] Triggered Entity Extraction (spaCy model)</a:t>
            </a:r>
          </a:p>
        </p:txBody>
      </p:sp>
      <p:sp>
        <p:nvSpPr>
          <p:cNvPr id="339" name="TextBox 8"/>
          <p:cNvSpPr txBox="1"/>
          <p:nvPr/>
        </p:nvSpPr>
        <p:spPr>
          <a:xfrm>
            <a:off x="1009650" y="2640209"/>
            <a:ext cx="1017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[2024-05-20 14:32:08] TRACE [Pipeline] Document chunked into 45 segments. Embeddings generated.</a:t>
            </a:r>
          </a:p>
        </p:txBody>
      </p:sp>
      <p:sp>
        <p:nvSpPr>
          <p:cNvPr id="340" name="TextBox 9"/>
          <p:cNvSpPr txBox="1"/>
          <p:nvPr/>
        </p:nvSpPr>
        <p:spPr>
          <a:xfrm>
            <a:off x="1009650" y="2887859"/>
            <a:ext cx="1017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[2024-05-20 14:32:15] INFO [RiskAgent] Flagged Clause ID: 89a (Unlimited Indemnification). Risk Level: HIGH</a:t>
            </a:r>
          </a:p>
        </p:txBody>
      </p:sp>
      <p:sp>
        <p:nvSpPr>
          <p:cNvPr id="341" name="TextBox 10"/>
          <p:cNvSpPr txBox="1"/>
          <p:nvPr/>
        </p:nvSpPr>
        <p:spPr>
          <a:xfrm>
            <a:off x="1009650" y="3135509"/>
            <a:ext cx="1017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[2024-05-20 14:35:22] INFO [API] POST /chat request received. Query: "Summarize liabilities"</a:t>
            </a:r>
          </a:p>
        </p:txBody>
      </p:sp>
      <p:sp>
        <p:nvSpPr>
          <p:cNvPr id="342" name="TextBox 11"/>
          <p:cNvSpPr txBox="1"/>
          <p:nvPr/>
        </p:nvSpPr>
        <p:spPr>
          <a:xfrm>
            <a:off x="1009650" y="3383160"/>
            <a:ext cx="1017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[2024-05-20 14:35:23] TRACE [RAG] Retrieved chunks [c12, c18, c41]. Passing to Groq LLM.</a:t>
            </a:r>
          </a:p>
        </p:txBody>
      </p:sp>
      <p:sp>
        <p:nvSpPr>
          <p:cNvPr id="343" name="TextBox 12"/>
          <p:cNvSpPr txBox="1"/>
          <p:nvPr/>
        </p:nvSpPr>
        <p:spPr>
          <a:xfrm>
            <a:off x="1009650" y="3630810"/>
            <a:ext cx="101727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A855F7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[2024-05-20 14:35:25] AUDIT [Security] Response generated and logged to SQLite (Audit ID: 9912)</a:t>
            </a:r>
          </a:p>
        </p:txBody>
      </p:sp>
      <p:sp>
        <p:nvSpPr>
          <p:cNvPr id="344" name="TextBox 13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Audit Logging &amp; Traceability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1811534"/>
            <a:ext cx="11029950" cy="638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1025" y="2640209"/>
            <a:ext cx="11029950" cy="638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1025" y="3468885"/>
            <a:ext cx="11029950" cy="638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50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4297560"/>
            <a:ext cx="11029950" cy="638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1025" y="5126235"/>
            <a:ext cx="11029950" cy="638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1025" y="525660"/>
            <a:ext cx="304800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TextBox 8"/>
          <p:cNvSpPr txBox="1"/>
          <p:nvPr/>
        </p:nvSpPr>
        <p:spPr>
          <a:xfrm>
            <a:off x="581025" y="1251495"/>
            <a:ext cx="11029950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Built API-first to integrate seamlessly with existing enterprise CLM (Contract Lifecycle Management) tools.</a:t>
            </a:r>
          </a:p>
        </p:txBody>
      </p:sp>
      <p:pic>
        <p:nvPicPr>
          <p:cNvPr id="354" name="Picture 9" descr="Picture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9150" y="1973459"/>
            <a:ext cx="514350" cy="314326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TextBox 10"/>
          <p:cNvSpPr txBox="1"/>
          <p:nvPr/>
        </p:nvSpPr>
        <p:spPr>
          <a:xfrm>
            <a:off x="1524000" y="2021084"/>
            <a:ext cx="1047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/</a:t>
            </a:r>
          </a:p>
        </p:txBody>
      </p:sp>
      <p:sp>
        <p:nvSpPr>
          <p:cNvPr id="356" name="TextBox 11"/>
          <p:cNvSpPr txBox="1"/>
          <p:nvPr/>
        </p:nvSpPr>
        <p:spPr>
          <a:xfrm>
            <a:off x="9210675" y="2030609"/>
            <a:ext cx="21621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System Status &amp; Welcome</a:t>
            </a:r>
          </a:p>
        </p:txBody>
      </p:sp>
      <p:pic>
        <p:nvPicPr>
          <p:cNvPr id="357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9150" y="2802134"/>
            <a:ext cx="514350" cy="314326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TextBox 13"/>
          <p:cNvSpPr txBox="1"/>
          <p:nvPr/>
        </p:nvSpPr>
        <p:spPr>
          <a:xfrm>
            <a:off x="1524000" y="2849759"/>
            <a:ext cx="73342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/health</a:t>
            </a:r>
          </a:p>
        </p:txBody>
      </p:sp>
      <p:sp>
        <p:nvSpPr>
          <p:cNvPr id="359" name="TextBox 14"/>
          <p:cNvSpPr txBox="1"/>
          <p:nvPr/>
        </p:nvSpPr>
        <p:spPr>
          <a:xfrm>
            <a:off x="8496300" y="2859284"/>
            <a:ext cx="287655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Service Health Check (DB, Models)</a:t>
            </a:r>
          </a:p>
        </p:txBody>
      </p:sp>
      <p:pic>
        <p:nvPicPr>
          <p:cNvPr id="360" name="Picture 15" descr="Picture 1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19150" y="3630810"/>
            <a:ext cx="609600" cy="314326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TextBox 16"/>
          <p:cNvSpPr txBox="1"/>
          <p:nvPr/>
        </p:nvSpPr>
        <p:spPr>
          <a:xfrm>
            <a:off x="1619250" y="3678435"/>
            <a:ext cx="73342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/upload</a:t>
            </a:r>
          </a:p>
        </p:txBody>
      </p:sp>
      <p:sp>
        <p:nvSpPr>
          <p:cNvPr id="362" name="TextBox 17"/>
          <p:cNvSpPr txBox="1"/>
          <p:nvPr/>
        </p:nvSpPr>
        <p:spPr>
          <a:xfrm>
            <a:off x="7981950" y="3687960"/>
            <a:ext cx="33909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Ingest, Parse, Chunk &amp; Embed Document</a:t>
            </a:r>
          </a:p>
        </p:txBody>
      </p:sp>
      <p:pic>
        <p:nvPicPr>
          <p:cNvPr id="363" name="Picture 18" descr="Picture 18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19150" y="4459485"/>
            <a:ext cx="609600" cy="314326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TextBox 19"/>
          <p:cNvSpPr txBox="1"/>
          <p:nvPr/>
        </p:nvSpPr>
        <p:spPr>
          <a:xfrm>
            <a:off x="1619250" y="4507110"/>
            <a:ext cx="5238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/chat</a:t>
            </a:r>
          </a:p>
        </p:txBody>
      </p:sp>
      <p:sp>
        <p:nvSpPr>
          <p:cNvPr id="365" name="TextBox 20"/>
          <p:cNvSpPr txBox="1"/>
          <p:nvPr/>
        </p:nvSpPr>
        <p:spPr>
          <a:xfrm>
            <a:off x="8543925" y="4516635"/>
            <a:ext cx="282892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RAG Query with Citation Response</a:t>
            </a:r>
          </a:p>
        </p:txBody>
      </p:sp>
      <p:pic>
        <p:nvPicPr>
          <p:cNvPr id="366" name="Picture 21" descr="Picture 2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19150" y="5288160"/>
            <a:ext cx="609600" cy="314326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TextBox 22"/>
          <p:cNvSpPr txBox="1"/>
          <p:nvPr/>
        </p:nvSpPr>
        <p:spPr>
          <a:xfrm>
            <a:off x="1619250" y="5335785"/>
            <a:ext cx="8382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/compare</a:t>
            </a:r>
          </a:p>
        </p:txBody>
      </p:sp>
      <p:sp>
        <p:nvSpPr>
          <p:cNvPr id="368" name="TextBox 23"/>
          <p:cNvSpPr txBox="1"/>
          <p:nvPr/>
        </p:nvSpPr>
        <p:spPr>
          <a:xfrm>
            <a:off x="8648700" y="5345310"/>
            <a:ext cx="272415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Semantic Diffing of Two Versions</a:t>
            </a:r>
          </a:p>
        </p:txBody>
      </p:sp>
      <p:sp>
        <p:nvSpPr>
          <p:cNvPr id="369" name="TextBox 24"/>
          <p:cNvSpPr txBox="1"/>
          <p:nvPr/>
        </p:nvSpPr>
        <p:spPr>
          <a:xfrm>
            <a:off x="1028699" y="492527"/>
            <a:ext cx="11111390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API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86000" y="1546919"/>
            <a:ext cx="7620000" cy="4529733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1025" y="525660"/>
            <a:ext cx="447675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TextBox 4"/>
          <p:cNvSpPr txBox="1"/>
          <p:nvPr/>
        </p:nvSpPr>
        <p:spPr>
          <a:xfrm>
            <a:off x="3114675" y="1937443"/>
            <a:ext cx="6400800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legal-copilot-backend/</a:t>
            </a:r>
          </a:p>
        </p:txBody>
      </p:sp>
      <p:pic>
        <p:nvPicPr>
          <p:cNvPr id="375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67025" y="1985068"/>
            <a:ext cx="152400" cy="152401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extBox 6"/>
          <p:cNvSpPr txBox="1"/>
          <p:nvPr/>
        </p:nvSpPr>
        <p:spPr>
          <a:xfrm>
            <a:off x="3429000" y="2278408"/>
            <a:ext cx="6086475" cy="24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app/</a:t>
            </a:r>
          </a:p>
        </p:txBody>
      </p:sp>
      <p:sp>
        <p:nvSpPr>
          <p:cNvPr id="377" name="TextBox 7"/>
          <p:cNvSpPr txBox="1"/>
          <p:nvPr/>
        </p:nvSpPr>
        <p:spPr>
          <a:xfrm>
            <a:off x="3429000" y="4436566"/>
            <a:ext cx="6086475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data/ </a:t>
            </a:r>
            <a:r>
              <a:rPr>
                <a:solidFill>
                  <a:srgbClr val="64748B"/>
                </a:solidFill>
              </a:rPr>
              <a:t># ChromaDB &amp; SQLite persistence</a:t>
            </a:r>
          </a:p>
        </p:txBody>
      </p:sp>
      <p:sp>
        <p:nvSpPr>
          <p:cNvPr id="378" name="TextBox 8"/>
          <p:cNvSpPr txBox="1"/>
          <p:nvPr/>
        </p:nvSpPr>
        <p:spPr>
          <a:xfrm>
            <a:off x="3429000" y="4748955"/>
            <a:ext cx="6086475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tests/ </a:t>
            </a:r>
            <a:r>
              <a:rPr>
                <a:solidFill>
                  <a:srgbClr val="64748B"/>
                </a:solidFill>
              </a:rPr>
              <a:t># Pytest suites</a:t>
            </a:r>
          </a:p>
        </p:txBody>
      </p:sp>
      <p:sp>
        <p:nvSpPr>
          <p:cNvPr id="379" name="TextBox 9"/>
          <p:cNvSpPr txBox="1"/>
          <p:nvPr/>
        </p:nvSpPr>
        <p:spPr>
          <a:xfrm>
            <a:off x="3429000" y="5061346"/>
            <a:ext cx="6086475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 Dockerfile</a:t>
            </a:r>
          </a:p>
        </p:txBody>
      </p:sp>
      <p:sp>
        <p:nvSpPr>
          <p:cNvPr id="380" name="TextBox 10"/>
          <p:cNvSpPr txBox="1"/>
          <p:nvPr/>
        </p:nvSpPr>
        <p:spPr>
          <a:xfrm>
            <a:off x="3429000" y="5373737"/>
            <a:ext cx="6086475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pPr/>
            <a:r>
              <a:t>requirements.txt</a:t>
            </a:r>
          </a:p>
        </p:txBody>
      </p:sp>
      <p:pic>
        <p:nvPicPr>
          <p:cNvPr id="381" name="Picture 11" descr="Picture 1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181350" y="2297458"/>
            <a:ext cx="152400" cy="152401"/>
          </a:xfrm>
          <a:prstGeom prst="rect">
            <a:avLst/>
          </a:prstGeom>
          <a:ln w="12700">
            <a:miter lim="400000"/>
          </a:ln>
        </p:spPr>
      </p:pic>
      <p:sp>
        <p:nvSpPr>
          <p:cNvPr id="382" name="TextBox 12"/>
          <p:cNvSpPr txBox="1"/>
          <p:nvPr/>
        </p:nvSpPr>
        <p:spPr>
          <a:xfrm>
            <a:off x="3743325" y="2562225"/>
            <a:ext cx="5772150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api/ </a:t>
            </a:r>
            <a:r>
              <a:rPr>
                <a:solidFill>
                  <a:srgbClr val="64748B"/>
                </a:solidFill>
              </a:rPr>
              <a:t># FastAPI Routers</a:t>
            </a:r>
          </a:p>
        </p:txBody>
      </p:sp>
      <p:sp>
        <p:nvSpPr>
          <p:cNvPr id="383" name="TextBox 13"/>
          <p:cNvSpPr txBox="1"/>
          <p:nvPr/>
        </p:nvSpPr>
        <p:spPr>
          <a:xfrm>
            <a:off x="3743325" y="2874615"/>
            <a:ext cx="5772150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core/ </a:t>
            </a:r>
            <a:r>
              <a:rPr>
                <a:solidFill>
                  <a:srgbClr val="64748B"/>
                </a:solidFill>
              </a:rPr>
              <a:t># Config, Security, DB setup</a:t>
            </a:r>
          </a:p>
        </p:txBody>
      </p:sp>
      <p:sp>
        <p:nvSpPr>
          <p:cNvPr id="384" name="TextBox 14"/>
          <p:cNvSpPr txBox="1"/>
          <p:nvPr/>
        </p:nvSpPr>
        <p:spPr>
          <a:xfrm>
            <a:off x="3743325" y="3187005"/>
            <a:ext cx="5772150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agents/ </a:t>
            </a:r>
            <a:r>
              <a:rPr>
                <a:solidFill>
                  <a:srgbClr val="64748B"/>
                </a:solidFill>
              </a:rPr>
              <a:t># Multi-Agent logic (Risk, Compliance)</a:t>
            </a:r>
          </a:p>
        </p:txBody>
      </p:sp>
      <p:sp>
        <p:nvSpPr>
          <p:cNvPr id="385" name="TextBox 15"/>
          <p:cNvSpPr txBox="1"/>
          <p:nvPr/>
        </p:nvSpPr>
        <p:spPr>
          <a:xfrm>
            <a:off x="3743325" y="3499394"/>
            <a:ext cx="5772150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services/ </a:t>
            </a:r>
            <a:r>
              <a:rPr>
                <a:solidFill>
                  <a:srgbClr val="64748B"/>
                </a:solidFill>
              </a:rPr>
              <a:t># RAG, Extraction, Embeddings</a:t>
            </a:r>
          </a:p>
        </p:txBody>
      </p:sp>
      <p:sp>
        <p:nvSpPr>
          <p:cNvPr id="386" name="TextBox 16"/>
          <p:cNvSpPr txBox="1"/>
          <p:nvPr/>
        </p:nvSpPr>
        <p:spPr>
          <a:xfrm>
            <a:off x="3743325" y="3811785"/>
            <a:ext cx="5772150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models/ </a:t>
            </a:r>
            <a:r>
              <a:rPr>
                <a:solidFill>
                  <a:srgbClr val="64748B"/>
                </a:solidFill>
              </a:rPr>
              <a:t># Pydantic schemas, DB Models</a:t>
            </a:r>
          </a:p>
        </p:txBody>
      </p:sp>
      <p:sp>
        <p:nvSpPr>
          <p:cNvPr id="387" name="TextBox 17"/>
          <p:cNvSpPr txBox="1"/>
          <p:nvPr/>
        </p:nvSpPr>
        <p:spPr>
          <a:xfrm>
            <a:off x="3743325" y="4124176"/>
            <a:ext cx="5772150" cy="248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100"/>
              </a:lnSpc>
              <a:defRPr sz="12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main.py </a:t>
            </a:r>
            <a:r>
              <a:rPr>
                <a:solidFill>
                  <a:srgbClr val="64748B"/>
                </a:solidFill>
              </a:rPr>
              <a:t># Application Entrypoint</a:t>
            </a:r>
          </a:p>
        </p:txBody>
      </p:sp>
      <p:pic>
        <p:nvPicPr>
          <p:cNvPr id="388" name="Picture 18" descr="Picture 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181350" y="4484191"/>
            <a:ext cx="1524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" name="Picture 19" descr="Picture 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181350" y="4796580"/>
            <a:ext cx="1524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Picture 20" descr="Picture 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181350" y="5108971"/>
            <a:ext cx="1905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" name="Picture 21" descr="Picture 2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181350" y="5421362"/>
            <a:ext cx="1143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" name="Picture 22" descr="Picture 2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495675" y="2609850"/>
            <a:ext cx="1524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" name="Picture 23" descr="Picture 2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495675" y="2922240"/>
            <a:ext cx="1524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" name="Picture 24" descr="Picture 2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495675" y="3234630"/>
            <a:ext cx="1524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25" descr="Picture 2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495675" y="3547019"/>
            <a:ext cx="1524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26" descr="Picture 2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495675" y="3859410"/>
            <a:ext cx="152400" cy="15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27" descr="Picture 2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495675" y="4171801"/>
            <a:ext cx="133350" cy="152401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TextBox 28"/>
          <p:cNvSpPr txBox="1"/>
          <p:nvPr/>
        </p:nvSpPr>
        <p:spPr>
          <a:xfrm>
            <a:off x="1171574" y="492527"/>
            <a:ext cx="10961372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Backend Folder Structure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2438400"/>
            <a:ext cx="3486150" cy="12305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52925" y="2438400"/>
            <a:ext cx="3486150" cy="12305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3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24825" y="2438400"/>
            <a:ext cx="3486150" cy="12305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81025" y="3954660"/>
            <a:ext cx="3486150" cy="123051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5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352925" y="3954660"/>
            <a:ext cx="3486150" cy="123051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" name="Picture 7" descr="Picture 7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124825" y="3954660"/>
            <a:ext cx="3486150" cy="123051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" name="Picture 8" descr="Pictur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81025" y="525660"/>
            <a:ext cx="352425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TextBox 9"/>
          <p:cNvSpPr txBox="1"/>
          <p:nvPr/>
        </p:nvSpPr>
        <p:spPr>
          <a:xfrm>
            <a:off x="819149" y="2695574"/>
            <a:ext cx="3160397" cy="17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Advanced RAG</a:t>
            </a:r>
          </a:p>
        </p:txBody>
      </p:sp>
      <p:sp>
        <p:nvSpPr>
          <p:cNvPr id="409" name="TextBox 10"/>
          <p:cNvSpPr txBox="1"/>
          <p:nvPr/>
        </p:nvSpPr>
        <p:spPr>
          <a:xfrm>
            <a:off x="819150" y="2973584"/>
            <a:ext cx="3009900" cy="443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Context-aware chunking preserving legal clause integrity before embedding.</a:t>
            </a:r>
          </a:p>
        </p:txBody>
      </p:sp>
      <p:sp>
        <p:nvSpPr>
          <p:cNvPr id="410" name="TextBox 11"/>
          <p:cNvSpPr txBox="1"/>
          <p:nvPr/>
        </p:nvSpPr>
        <p:spPr>
          <a:xfrm>
            <a:off x="4591049" y="2695574"/>
            <a:ext cx="3160397" cy="17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Multi-Agent AI</a:t>
            </a:r>
          </a:p>
        </p:txBody>
      </p:sp>
      <p:sp>
        <p:nvSpPr>
          <p:cNvPr id="411" name="TextBox 12"/>
          <p:cNvSpPr txBox="1"/>
          <p:nvPr/>
        </p:nvSpPr>
        <p:spPr>
          <a:xfrm>
            <a:off x="4591050" y="2973584"/>
            <a:ext cx="3009900" cy="443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Specialized agents acting as independent reviewers to reduce hallucination.</a:t>
            </a:r>
          </a:p>
        </p:txBody>
      </p:sp>
      <p:sp>
        <p:nvSpPr>
          <p:cNvPr id="412" name="TextBox 13"/>
          <p:cNvSpPr txBox="1"/>
          <p:nvPr/>
        </p:nvSpPr>
        <p:spPr>
          <a:xfrm>
            <a:off x="8362949" y="2695574"/>
            <a:ext cx="3160397" cy="17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Knowledge Graph</a:t>
            </a:r>
          </a:p>
        </p:txBody>
      </p:sp>
      <p:sp>
        <p:nvSpPr>
          <p:cNvPr id="413" name="TextBox 14"/>
          <p:cNvSpPr txBox="1"/>
          <p:nvPr/>
        </p:nvSpPr>
        <p:spPr>
          <a:xfrm>
            <a:off x="8362950" y="2973584"/>
            <a:ext cx="3009900" cy="443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Mapping entities (Parties, Dates) to obligations for deep relational queries.</a:t>
            </a:r>
          </a:p>
        </p:txBody>
      </p:sp>
      <p:sp>
        <p:nvSpPr>
          <p:cNvPr id="414" name="TextBox 15"/>
          <p:cNvSpPr txBox="1"/>
          <p:nvPr/>
        </p:nvSpPr>
        <p:spPr>
          <a:xfrm>
            <a:off x="819149" y="4211835"/>
            <a:ext cx="3160397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Explainable AI</a:t>
            </a:r>
          </a:p>
        </p:txBody>
      </p:sp>
      <p:sp>
        <p:nvSpPr>
          <p:cNvPr id="415" name="TextBox 16"/>
          <p:cNvSpPr txBox="1"/>
          <p:nvPr/>
        </p:nvSpPr>
        <p:spPr>
          <a:xfrm>
            <a:off x="819150" y="4489846"/>
            <a:ext cx="3009900" cy="44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Enforced citations linking every output directly to the uploaded source text.</a:t>
            </a:r>
          </a:p>
        </p:txBody>
      </p:sp>
      <p:sp>
        <p:nvSpPr>
          <p:cNvPr id="416" name="TextBox 17"/>
          <p:cNvSpPr txBox="1"/>
          <p:nvPr/>
        </p:nvSpPr>
        <p:spPr>
          <a:xfrm>
            <a:off x="4591049" y="4211835"/>
            <a:ext cx="3160397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Automated Redlining</a:t>
            </a:r>
          </a:p>
        </p:txBody>
      </p:sp>
      <p:sp>
        <p:nvSpPr>
          <p:cNvPr id="417" name="TextBox 18"/>
          <p:cNvSpPr txBox="1"/>
          <p:nvPr/>
        </p:nvSpPr>
        <p:spPr>
          <a:xfrm>
            <a:off x="4591050" y="4489846"/>
            <a:ext cx="3009900" cy="44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Generates standard playbook-aligned alternative text for risky clauses.</a:t>
            </a:r>
          </a:p>
        </p:txBody>
      </p:sp>
      <p:sp>
        <p:nvSpPr>
          <p:cNvPr id="418" name="TextBox 19"/>
          <p:cNvSpPr txBox="1"/>
          <p:nvPr/>
        </p:nvSpPr>
        <p:spPr>
          <a:xfrm>
            <a:off x="8362949" y="4211835"/>
            <a:ext cx="3160397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Semantic Comparison</a:t>
            </a:r>
          </a:p>
        </p:txBody>
      </p:sp>
      <p:sp>
        <p:nvSpPr>
          <p:cNvPr id="419" name="TextBox 20"/>
          <p:cNvSpPr txBox="1"/>
          <p:nvPr/>
        </p:nvSpPr>
        <p:spPr>
          <a:xfrm>
            <a:off x="8362950" y="4489846"/>
            <a:ext cx="3009900" cy="443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Beyond text diffing—understands if legal meaning changed between versions.</a:t>
            </a:r>
          </a:p>
        </p:txBody>
      </p:sp>
      <p:sp>
        <p:nvSpPr>
          <p:cNvPr id="420" name="TextBox 21"/>
          <p:cNvSpPr txBox="1"/>
          <p:nvPr/>
        </p:nvSpPr>
        <p:spPr>
          <a:xfrm>
            <a:off x="1076324" y="492527"/>
            <a:ext cx="11061384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Innovation Highlights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47875" y="1859159"/>
            <a:ext cx="476250" cy="476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7875" y="3002159"/>
            <a:ext cx="476250" cy="476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5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47875" y="4145160"/>
            <a:ext cx="476250" cy="476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6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047875" y="5288160"/>
            <a:ext cx="476250" cy="476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7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809750" y="1621034"/>
            <a:ext cx="8572500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" name="Picture 7" descr="Picture 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809750" y="2764034"/>
            <a:ext cx="8572500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9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809750" y="3907035"/>
            <a:ext cx="8572500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0" name="Picture 9" descr="Picture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809750" y="5050035"/>
            <a:ext cx="8572500" cy="95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" name="Picture 10" descr="Picture 1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81025" y="525660"/>
            <a:ext cx="304800" cy="400051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Rectangle 11"/>
          <p:cNvSpPr/>
          <p:nvPr/>
        </p:nvSpPr>
        <p:spPr>
          <a:xfrm>
            <a:off x="2038350" y="1621034"/>
            <a:ext cx="19050" cy="4381501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TextBox 12"/>
          <p:cNvSpPr txBox="1"/>
          <p:nvPr/>
        </p:nvSpPr>
        <p:spPr>
          <a:xfrm>
            <a:off x="2714625" y="1884015"/>
            <a:ext cx="7030878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Document Ingestion</a:t>
            </a:r>
          </a:p>
        </p:txBody>
      </p:sp>
      <p:sp>
        <p:nvSpPr>
          <p:cNvPr id="434" name="TextBox 13"/>
          <p:cNvSpPr txBox="1"/>
          <p:nvPr/>
        </p:nvSpPr>
        <p:spPr>
          <a:xfrm>
            <a:off x="2714625" y="2066775"/>
            <a:ext cx="6696075" cy="22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Upload an NDA. System parses PDF, extracts metadata, and generates embeddings instantly.</a:t>
            </a:r>
          </a:p>
        </p:txBody>
      </p:sp>
      <p:sp>
        <p:nvSpPr>
          <p:cNvPr id="435" name="TextBox 14"/>
          <p:cNvSpPr txBox="1"/>
          <p:nvPr/>
        </p:nvSpPr>
        <p:spPr>
          <a:xfrm>
            <a:off x="2714624" y="3027015"/>
            <a:ext cx="6980874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Risk Dashboard &amp; Summary</a:t>
            </a:r>
          </a:p>
        </p:txBody>
      </p:sp>
      <p:sp>
        <p:nvSpPr>
          <p:cNvPr id="436" name="TextBox 15"/>
          <p:cNvSpPr txBox="1"/>
          <p:nvPr/>
        </p:nvSpPr>
        <p:spPr>
          <a:xfrm>
            <a:off x="2714625" y="3209775"/>
            <a:ext cx="6648450" cy="22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View the auto-generated executive summary and the flag on the non-standard venue clause.</a:t>
            </a:r>
          </a:p>
        </p:txBody>
      </p:sp>
      <p:sp>
        <p:nvSpPr>
          <p:cNvPr id="437" name="TextBox 16"/>
          <p:cNvSpPr txBox="1"/>
          <p:nvPr/>
        </p:nvSpPr>
        <p:spPr>
          <a:xfrm>
            <a:off x="2714624" y="4170014"/>
            <a:ext cx="7440932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Conversational Q&amp;A</a:t>
            </a:r>
          </a:p>
        </p:txBody>
      </p:sp>
      <p:sp>
        <p:nvSpPr>
          <p:cNvPr id="438" name="TextBox 17"/>
          <p:cNvSpPr txBox="1"/>
          <p:nvPr/>
        </p:nvSpPr>
        <p:spPr>
          <a:xfrm>
            <a:off x="2714625" y="4352776"/>
            <a:ext cx="7086600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Ask: "Are there any mutual indemnifications?" See the AI respond with highlighted source citations.</a:t>
            </a:r>
          </a:p>
        </p:txBody>
      </p:sp>
      <p:sp>
        <p:nvSpPr>
          <p:cNvPr id="439" name="TextBox 18"/>
          <p:cNvSpPr txBox="1"/>
          <p:nvPr/>
        </p:nvSpPr>
        <p:spPr>
          <a:xfrm>
            <a:off x="2714625" y="5313014"/>
            <a:ext cx="5950743" cy="177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Compare Tool</a:t>
            </a:r>
          </a:p>
        </p:txBody>
      </p:sp>
      <p:sp>
        <p:nvSpPr>
          <p:cNvPr id="440" name="TextBox 19"/>
          <p:cNvSpPr txBox="1"/>
          <p:nvPr/>
        </p:nvSpPr>
        <p:spPr>
          <a:xfrm>
            <a:off x="2714625" y="5495776"/>
            <a:ext cx="5667375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Upload a revised V2 of the NDA to demonstrate semantic redlining and diffing.</a:t>
            </a:r>
          </a:p>
        </p:txBody>
      </p:sp>
      <p:sp>
        <p:nvSpPr>
          <p:cNvPr id="441" name="TextBox 20"/>
          <p:cNvSpPr txBox="1"/>
          <p:nvPr/>
        </p:nvSpPr>
        <p:spPr>
          <a:xfrm>
            <a:off x="1028699" y="492527"/>
            <a:ext cx="11111390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Live Demo Workflow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2299095"/>
            <a:ext cx="3486150" cy="3025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52925" y="2299095"/>
            <a:ext cx="3486150" cy="3025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4825" y="2299095"/>
            <a:ext cx="3486150" cy="3025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5" descr="Picture 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6" descr="Picture 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943100" y="2537220"/>
            <a:ext cx="762000" cy="762001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extBox 7"/>
          <p:cNvSpPr txBox="1"/>
          <p:nvPr/>
        </p:nvSpPr>
        <p:spPr>
          <a:xfrm>
            <a:off x="1283969" y="3584971"/>
            <a:ext cx="2080261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Enterprise Integrations</a:t>
            </a:r>
          </a:p>
        </p:txBody>
      </p:sp>
      <p:sp>
        <p:nvSpPr>
          <p:cNvPr id="450" name="TextBox 8"/>
          <p:cNvSpPr txBox="1"/>
          <p:nvPr/>
        </p:nvSpPr>
        <p:spPr>
          <a:xfrm>
            <a:off x="819150" y="3989337"/>
            <a:ext cx="3009900" cy="784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Native plugins for Salesforce, Microsoft Word (Add-in), and DocuSign for seamless workflow integration.</a:t>
            </a:r>
          </a:p>
        </p:txBody>
      </p:sp>
      <p:pic>
        <p:nvPicPr>
          <p:cNvPr id="451" name="Picture 9" descr="Picture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15000" y="2537220"/>
            <a:ext cx="762000" cy="762001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TextBox 10"/>
          <p:cNvSpPr txBox="1"/>
          <p:nvPr/>
        </p:nvSpPr>
        <p:spPr>
          <a:xfrm>
            <a:off x="5115876" y="3584971"/>
            <a:ext cx="1960246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Multi-lingual Support</a:t>
            </a:r>
          </a:p>
        </p:txBody>
      </p:sp>
      <p:sp>
        <p:nvSpPr>
          <p:cNvPr id="453" name="TextBox 11"/>
          <p:cNvSpPr txBox="1"/>
          <p:nvPr/>
        </p:nvSpPr>
        <p:spPr>
          <a:xfrm>
            <a:off x="4591050" y="3989337"/>
            <a:ext cx="3009900" cy="784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Cross-border contract analysis utilizing Llama 3's advanced multi-lingual capabilities for global compliance.</a:t>
            </a:r>
          </a:p>
        </p:txBody>
      </p:sp>
      <p:pic>
        <p:nvPicPr>
          <p:cNvPr id="454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63086" y="2537220"/>
            <a:ext cx="809626" cy="762001"/>
          </a:xfrm>
          <a:prstGeom prst="rect">
            <a:avLst/>
          </a:prstGeom>
          <a:ln w="12700">
            <a:miter lim="400000"/>
          </a:ln>
        </p:spPr>
      </p:pic>
      <p:sp>
        <p:nvSpPr>
          <p:cNvPr id="455" name="TextBox 13"/>
          <p:cNvSpPr txBox="1"/>
          <p:nvPr/>
        </p:nvSpPr>
        <p:spPr>
          <a:xfrm>
            <a:off x="8967786" y="3584971"/>
            <a:ext cx="1800226" cy="2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b="1" sz="14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Generative Drafting</a:t>
            </a:r>
          </a:p>
        </p:txBody>
      </p:sp>
      <p:sp>
        <p:nvSpPr>
          <p:cNvPr id="456" name="TextBox 14"/>
          <p:cNvSpPr txBox="1"/>
          <p:nvPr/>
        </p:nvSpPr>
        <p:spPr>
          <a:xfrm>
            <a:off x="8362950" y="3989337"/>
            <a:ext cx="3009900" cy="784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Transition from review-only to full zero-draft creation based on natural language prompts and historical data.</a:t>
            </a:r>
          </a:p>
        </p:txBody>
      </p:sp>
      <p:pic>
        <p:nvPicPr>
          <p:cNvPr id="457" name="Picture 15" descr="Picture 1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133600" y="2727720"/>
            <a:ext cx="381000" cy="381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Picture 16" descr="Picture 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905500" y="2727720"/>
            <a:ext cx="381000" cy="381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" name="Picture 17" descr="Picture 17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653586" y="2727720"/>
            <a:ext cx="428626" cy="381001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Box 18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Future Scope &amp; Roadmap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1025" y="525660"/>
            <a:ext cx="400050" cy="400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9150" y="2906016"/>
            <a:ext cx="285750" cy="28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77000" y="2906016"/>
            <a:ext cx="285750" cy="28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9150" y="4431803"/>
            <a:ext cx="285750" cy="285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77000" y="4431803"/>
            <a:ext cx="285750" cy="285751"/>
          </a:xfrm>
          <a:prstGeom prst="rect">
            <a:avLst/>
          </a:prstGeom>
          <a:ln w="12700">
            <a:miter lim="400000"/>
          </a:ln>
        </p:spPr>
      </p:pic>
      <p:sp>
        <p:nvSpPr>
          <p:cNvPr id="468" name="TextBox 7"/>
          <p:cNvSpPr txBox="1"/>
          <p:nvPr/>
        </p:nvSpPr>
        <p:spPr>
          <a:xfrm>
            <a:off x="1295400" y="2667000"/>
            <a:ext cx="4640580" cy="226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Built for Legal Rigor</a:t>
            </a:r>
          </a:p>
        </p:txBody>
      </p:sp>
      <p:sp>
        <p:nvSpPr>
          <p:cNvPr id="469" name="TextBox 8"/>
          <p:cNvSpPr txBox="1"/>
          <p:nvPr/>
        </p:nvSpPr>
        <p:spPr>
          <a:xfrm>
            <a:off x="1295400" y="2943224"/>
            <a:ext cx="4419600" cy="469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Not a generic wrapper. Tuned specifically for legal ontology, reducing false positives.</a:t>
            </a:r>
          </a:p>
        </p:txBody>
      </p:sp>
      <p:sp>
        <p:nvSpPr>
          <p:cNvPr id="470" name="TextBox 9"/>
          <p:cNvSpPr txBox="1"/>
          <p:nvPr/>
        </p:nvSpPr>
        <p:spPr>
          <a:xfrm>
            <a:off x="6953250" y="2667000"/>
            <a:ext cx="4640580" cy="226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Verifiable Output</a:t>
            </a:r>
          </a:p>
        </p:txBody>
      </p:sp>
      <p:sp>
        <p:nvSpPr>
          <p:cNvPr id="471" name="TextBox 10"/>
          <p:cNvSpPr txBox="1"/>
          <p:nvPr/>
        </p:nvSpPr>
        <p:spPr>
          <a:xfrm>
            <a:off x="6953250" y="2943224"/>
            <a:ext cx="4419600" cy="469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Zero hallucination tolerance due to strict RAG citation mapping and source grounding.</a:t>
            </a:r>
          </a:p>
        </p:txBody>
      </p:sp>
      <p:sp>
        <p:nvSpPr>
          <p:cNvPr id="472" name="TextBox 11"/>
          <p:cNvSpPr txBox="1"/>
          <p:nvPr/>
        </p:nvSpPr>
        <p:spPr>
          <a:xfrm>
            <a:off x="1295400" y="4192785"/>
            <a:ext cx="4640580" cy="226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Data Privacy by Design</a:t>
            </a:r>
          </a:p>
        </p:txBody>
      </p:sp>
      <p:sp>
        <p:nvSpPr>
          <p:cNvPr id="473" name="TextBox 12"/>
          <p:cNvSpPr txBox="1"/>
          <p:nvPr/>
        </p:nvSpPr>
        <p:spPr>
          <a:xfrm>
            <a:off x="1295400" y="4469010"/>
            <a:ext cx="4419600" cy="469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Architecture supports local LLM deployment and on-premise vector databases.</a:t>
            </a:r>
          </a:p>
        </p:txBody>
      </p:sp>
      <p:sp>
        <p:nvSpPr>
          <p:cNvPr id="474" name="TextBox 13"/>
          <p:cNvSpPr txBox="1"/>
          <p:nvPr/>
        </p:nvSpPr>
        <p:spPr>
          <a:xfrm>
            <a:off x="6953250" y="4192785"/>
            <a:ext cx="4640580" cy="226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Speed to Value</a:t>
            </a:r>
          </a:p>
        </p:txBody>
      </p:sp>
      <p:sp>
        <p:nvSpPr>
          <p:cNvPr id="475" name="TextBox 14"/>
          <p:cNvSpPr txBox="1"/>
          <p:nvPr/>
        </p:nvSpPr>
        <p:spPr>
          <a:xfrm>
            <a:off x="6953250" y="4469010"/>
            <a:ext cx="4419600" cy="469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API-first design allows deployment into existing business processes in days, not months.</a:t>
            </a:r>
          </a:p>
        </p:txBody>
      </p:sp>
      <p:sp>
        <p:nvSpPr>
          <p:cNvPr id="476" name="TextBox 15"/>
          <p:cNvSpPr txBox="1"/>
          <p:nvPr/>
        </p:nvSpPr>
        <p:spPr>
          <a:xfrm>
            <a:off x="1123950" y="492527"/>
            <a:ext cx="11011376" cy="466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700"/>
              </a:lnSpc>
              <a:defRPr b="1" sz="310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pPr/>
            <a:r>
              <a:t>Key Advantages (Why We Win)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65410" y="4499519"/>
            <a:ext cx="7157256" cy="845044"/>
          </a:xfrm>
          <a:prstGeom prst="rect">
            <a:avLst/>
          </a:prstGeom>
          <a:ln w="12700">
            <a:miter lim="400000"/>
          </a:ln>
        </p:spPr>
      </p:pic>
      <p:sp>
        <p:nvSpPr>
          <p:cNvPr id="480" name="TextBox 3"/>
          <p:cNvSpPr txBox="1"/>
          <p:nvPr/>
        </p:nvSpPr>
        <p:spPr>
          <a:xfrm>
            <a:off x="4010738" y="2586930"/>
            <a:ext cx="4170522" cy="906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200"/>
              </a:lnSpc>
              <a:defRPr sz="600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481" name="TextBox 4"/>
          <p:cNvSpPr txBox="1"/>
          <p:nvPr/>
        </p:nvSpPr>
        <p:spPr>
          <a:xfrm>
            <a:off x="3757612" y="3691830"/>
            <a:ext cx="4676776" cy="396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300"/>
              </a:lnSpc>
              <a:defRPr sz="210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</a:lstStyle>
          <a:p>
            <a:pPr/>
            <a:r>
              <a:t>Ready to transform legal operations?</a:t>
            </a:r>
          </a:p>
        </p:txBody>
      </p:sp>
      <p:pic>
        <p:nvPicPr>
          <p:cNvPr id="482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38812" y="1729680"/>
            <a:ext cx="714376" cy="571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09738" y="4807741"/>
            <a:ext cx="219076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TextBox 7"/>
          <p:cNvSpPr txBox="1"/>
          <p:nvPr/>
        </p:nvSpPr>
        <p:spPr>
          <a:xfrm>
            <a:off x="4233862" y="4718594"/>
            <a:ext cx="1628776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Inter Medium"/>
                <a:ea typeface="Inter Medium"/>
                <a:cs typeface="Inter Medium"/>
                <a:sym typeface="Inter Medium"/>
                <a:hlinkClick r:id="rId6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F8FAF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https://github.com/harsadhperumal-23/neurobots</a:t>
            </a:r>
          </a:p>
        </p:txBody>
      </p:sp>
      <p:pic>
        <p:nvPicPr>
          <p:cNvPr id="485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345479" y="4807741"/>
            <a:ext cx="228601" cy="228601"/>
          </a:xfrm>
          <a:prstGeom prst="rect">
            <a:avLst/>
          </a:prstGeom>
          <a:ln w="12700">
            <a:miter lim="400000"/>
          </a:ln>
        </p:spPr>
      </p:pic>
      <p:sp>
        <p:nvSpPr>
          <p:cNvPr id="486" name="TextBox 9"/>
          <p:cNvSpPr txBox="1"/>
          <p:nvPr/>
        </p:nvSpPr>
        <p:spPr>
          <a:xfrm>
            <a:off x="6735481" y="4807494"/>
            <a:ext cx="170497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Inter Medium"/>
                <a:ea typeface="Inter Medium"/>
                <a:cs typeface="Inter Medium"/>
                <a:sym typeface="Inter Medium"/>
                <a:hlinkClick r:id="rId8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F8FAFC"/>
                </a:solidFill>
                <a:uFillTx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 invalidUrl="" action="" tgtFrame="" tooltip="" history="1" highlightClick="0" endSnd="0"/>
              </a:rPr>
              <a:t>harsadhperumal23@gmail.com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